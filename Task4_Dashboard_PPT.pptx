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1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310</c:v>
                </c:pt>
                <c:pt idx="1">
                  <c:v>398</c:v>
                </c:pt>
                <c:pt idx="2">
                  <c:v>442</c:v>
                </c:pt>
                <c:pt idx="3">
                  <c:v>485</c:v>
                </c:pt>
                <c:pt idx="4">
                  <c:v>395</c:v>
                </c:pt>
                <c:pt idx="5">
                  <c:v>520</c:v>
                </c:pt>
                <c:pt idx="6">
                  <c:v>480</c:v>
                </c:pt>
                <c:pt idx="7">
                  <c:v>612</c:v>
                </c:pt>
                <c:pt idx="8">
                  <c:v>590</c:v>
                </c:pt>
                <c:pt idx="9">
                  <c:v>780</c:v>
                </c:pt>
                <c:pt idx="10">
                  <c:v>920</c:v>
                </c:pt>
                <c:pt idx="11">
                  <c:v>650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C37-4905-B36E-DFF79F9DC0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Deal Size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5FA-44CB-9587-ED8CA3561EC0}"/>
              </c:ext>
            </c:extLst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5FA-44CB-9587-ED8CA3561EC0}"/>
              </c:ext>
            </c:extLst>
          </c:dPt>
          <c:dPt>
            <c:idx val="2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5FA-44CB-9587-ED8CA3561EC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5FA-44CB-9587-ED8CA3561EC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5FA-44CB-9587-ED8CA3561EC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5FA-44CB-9587-ED8CA3561EC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Medium</c:v>
                </c:pt>
                <c:pt idx="1">
                  <c:v>Small</c:v>
                </c:pt>
                <c:pt idx="2">
                  <c:v>Large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6087</c:v>
                </c:pt>
                <c:pt idx="1">
                  <c:v>2643</c:v>
                </c:pt>
                <c:pt idx="2">
                  <c:v>1302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FA-44CB-9587-ED8CA3561E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3C-417C-A522-341BDE68B48F}"/>
              </c:ext>
            </c:extLst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3C-417C-A522-341BDE68B48F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3C-417C-A522-341BDE68B48F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3C-417C-A522-341BDE68B48F}"/>
              </c:ext>
            </c:extLst>
          </c:dPt>
          <c:dPt>
            <c:idx val="4"/>
            <c:invertIfNegative val="0"/>
            <c:bubble3D val="0"/>
            <c:spPr>
              <a:solidFill>
                <a:srgbClr val="3B6D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03C-417C-A522-341BDE68B48F}"/>
              </c:ext>
            </c:extLst>
          </c:dPt>
          <c:dPt>
            <c:idx val="5"/>
            <c:invertIfNegative val="0"/>
            <c:bubble3D val="0"/>
            <c:spPr>
              <a:solidFill>
                <a:srgbClr val="B87D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03C-417C-A522-341BDE68B48F}"/>
              </c:ext>
            </c:extLst>
          </c:dPt>
          <c:dPt>
            <c:idx val="6"/>
            <c:invertIfNegative val="0"/>
            <c:bubble3D val="0"/>
            <c:spPr>
              <a:solidFill>
                <a:srgbClr val="A32D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03C-417C-A522-341BDE68B48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Classic Cars</c:v>
                </c:pt>
                <c:pt idx="1">
                  <c:v>Vintage Cars</c:v>
                </c:pt>
                <c:pt idx="2">
                  <c:v>Motorcycles</c:v>
                </c:pt>
                <c:pt idx="3">
                  <c:v>Trucks/Buses</c:v>
                </c:pt>
                <c:pt idx="4">
                  <c:v>Planes</c:v>
                </c:pt>
                <c:pt idx="5">
                  <c:v>Ships</c:v>
                </c:pt>
                <c:pt idx="6">
                  <c:v>Trains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3919</c:v>
                </c:pt>
                <c:pt idx="1">
                  <c:v>1903</c:v>
                </c:pt>
                <c:pt idx="2">
                  <c:v>1166</c:v>
                </c:pt>
                <c:pt idx="3">
                  <c:v>1127</c:v>
                </c:pt>
                <c:pt idx="4">
                  <c:v>975</c:v>
                </c:pt>
                <c:pt idx="5">
                  <c:v>714</c:v>
                </c:pt>
                <c:pt idx="6">
                  <c:v>226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03C-417C-A522-341BDE68B4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48F-44EF-8B8A-0657070CB757}"/>
              </c:ext>
            </c:extLst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48F-44EF-8B8A-0657070CB757}"/>
              </c:ext>
            </c:extLst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48F-44EF-8B8A-0657070CB757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48F-44EF-8B8A-0657070CB75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EMEA</c:v>
                </c:pt>
                <c:pt idx="2">
                  <c:v>Asia Pacific</c:v>
                </c:pt>
                <c:pt idx="3">
                  <c:v>Japan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3627</c:v>
                </c:pt>
                <c:pt idx="1">
                  <c:v>4690</c:v>
                </c:pt>
                <c:pt idx="2">
                  <c:v>1286</c:v>
                </c:pt>
                <c:pt idx="3">
                  <c:v>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48F-44EF-8B8A-0657070CB75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1"/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255-475F-834C-893CE878D1CA}"/>
              </c:ext>
            </c:extLst>
          </c:dPt>
          <c:dPt>
            <c:idx val="1"/>
            <c:bubble3D val="0"/>
            <c:spPr>
              <a:solidFill>
                <a:srgbClr val="02809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255-475F-834C-893CE878D1CA}"/>
              </c:ext>
            </c:extLst>
          </c:dPt>
          <c:dPt>
            <c:idx val="2"/>
            <c:bubble3D val="0"/>
            <c:spPr>
              <a:solidFill>
                <a:srgbClr val="B87D0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255-475F-834C-893CE878D1CA}"/>
              </c:ext>
            </c:extLst>
          </c:dPt>
          <c:dPt>
            <c:idx val="3"/>
            <c:bubble3D val="0"/>
            <c:spPr>
              <a:solidFill>
                <a:srgbClr val="3B6D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255-475F-834C-893CE878D1CA}"/>
              </c:ext>
            </c:extLst>
          </c:dPt>
          <c:dPt>
            <c:idx val="4"/>
            <c:bubble3D val="0"/>
            <c:spPr>
              <a:solidFill>
                <a:srgbClr val="A32D2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255-475F-834C-893CE878D1CA}"/>
              </c:ext>
            </c:extLst>
          </c:dPt>
          <c:dPt>
            <c:idx val="5"/>
            <c:bubble3D val="0"/>
            <c:spPr>
              <a:solidFill>
                <a:srgbClr val="9935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255-475F-834C-893CE878D1CA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255-475F-834C-893CE878D1CA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1.0416666666666664E-2"/>
                      <c:h val="1.958689458689458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3255-475F-834C-893CE878D1CA}"/>
                </c:ext>
              </c:extLst>
            </c:dLbl>
            <c:dLbl>
              <c:idx val="2"/>
              <c:layout>
                <c:manualLayout>
                  <c:x val="-1.6606280193236716E-2"/>
                  <c:y val="-3.3831908831908813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3.4571256038647344E-2"/>
                      <c:h val="4.095441595441595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3255-475F-834C-893CE878D1CA}"/>
                </c:ext>
              </c:extLst>
            </c:dLbl>
            <c:dLbl>
              <c:idx val="3"/>
              <c:layout>
                <c:manualLayout>
                  <c:x val="2.8683574879227052E-2"/>
                  <c:y val="-4.8076923076923093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4.0609903381642512E-2"/>
                      <c:h val="4.0954415954415957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7-3255-475F-834C-893CE878D1CA}"/>
                </c:ext>
              </c:extLst>
            </c:dLbl>
            <c:dLbl>
              <c:idx val="4"/>
              <c:layout>
                <c:manualLayout>
                  <c:x val="-2.8683574879227108E-2"/>
                  <c:y val="-4.6296296296296315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2.2493961352657004E-2"/>
                      <c:h val="4.45156695156695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9-3255-475F-834C-893CE878D1CA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255-475F-834C-893CE878D1CA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Shipped</c:v>
                </c:pt>
                <c:pt idx="1">
                  <c:v>In Process</c:v>
                </c:pt>
                <c:pt idx="2">
                  <c:v>On Hold</c:v>
                </c:pt>
                <c:pt idx="3">
                  <c:v>Resolved</c:v>
                </c:pt>
                <c:pt idx="4">
                  <c:v>Cancelled</c:v>
                </c:pt>
                <c:pt idx="5">
                  <c:v>Disputed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2617</c:v>
                </c:pt>
                <c:pt idx="1">
                  <c:v>41</c:v>
                </c:pt>
                <c:pt idx="2">
                  <c:v>44</c:v>
                </c:pt>
                <c:pt idx="3">
                  <c:v>47</c:v>
                </c:pt>
                <c:pt idx="4">
                  <c:v>60</c:v>
                </c:pt>
                <c:pt idx="5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255-475F-834C-893CE878D1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5015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Financial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Analysis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 — Dashboard Design | Data Analyst Internship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2,823 Orders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32918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Order Statuses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32918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 Lines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0" y="3291840"/>
            <a:ext cx="1828800" cy="411480"/>
          </a:xfrm>
          <a:prstGeom prst="roundRect">
            <a:avLst>
              <a:gd name="adj" fmla="val 17778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291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Countries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B8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Google Looker Studio  |  Dataset: Kaggle Sales Data Sample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Labs × Ministry of MSME, Govt. of India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3474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352" y="14630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for business stakeholders that reveals sales trends, product performance, regional breakdown, and key financial KPIs using real transaction data.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34747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9472" y="14630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Sales Data Sample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2,823 orders across 19 countries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Fields: Sales, MSRP, Quantity, Price, Product Line, Deal Size, Order Status, Territory, Date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457200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576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68880" y="457200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6888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457200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Line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675120" y="4572000"/>
            <a:ext cx="1828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4572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8280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Territory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Revenue Trend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$10.0M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Revenue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92024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2,823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Shipped+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868680"/>
            <a:ext cx="19202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 ($K)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868680"/>
            <a:ext cx="1920240" cy="10058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58000" y="13716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 Rate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011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(2003–2005)</a:t>
            </a:r>
            <a:endParaRPr lang="en-US" sz="13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2377440"/>
          <a:ext cx="51206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576072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Deal Size</a:t>
            </a:r>
            <a:endParaRPr lang="en-US" sz="1300" dirty="0"/>
          </a:p>
        </p:txBody>
      </p:sp>
      <p:graphicFrame>
        <p:nvGraphicFramePr>
          <p:cNvPr id="19" name="Chart 1"/>
          <p:cNvGraphicFramePr/>
          <p:nvPr/>
        </p:nvGraphicFramePr>
        <p:xfrm>
          <a:off x="5669280" y="2331720"/>
          <a:ext cx="32004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&amp; Regional Performance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Product Line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188720"/>
          <a:ext cx="42062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93776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by Territory</a:t>
            </a:r>
            <a:endParaRPr lang="en-US" sz="13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846320" y="1188720"/>
          <a:ext cx="4023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846320" y="3749040"/>
            <a:ext cx="40233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937760" y="37947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alone drive 39% of total revenue. EMEA leads territorially. Focus upsell efforts on these two segments.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&amp; Business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Breakdown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7927467"/>
              </p:ext>
            </p:extLst>
          </p:nvPr>
        </p:nvGraphicFramePr>
        <p:xfrm>
          <a:off x="182880" y="1143000"/>
          <a:ext cx="4206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82296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754880" y="822960"/>
            <a:ext cx="1965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28032" y="859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92.5% Fulfillment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46320" y="1225296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2,617 of 2,823 orders shipped successfully — strong operational execution.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903720" y="82296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903720" y="822960"/>
            <a:ext cx="1965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76872" y="859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104 At-Risk Orders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995160" y="1225296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(60) + On Hold (44) require attention — possible supply chain or payment issues.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69748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754880" y="2697480"/>
            <a:ext cx="1965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2734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Q4 Revenue Peak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3099816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 is the highest revenue month — align inventory and promotions accordingly.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03720" y="2697480"/>
            <a:ext cx="196596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903720" y="2697480"/>
            <a:ext cx="1965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76872" y="2734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Classic Cars #1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995160" y="3099816"/>
            <a:ext cx="17830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$3.9M revenue from Classic Cars — prioritize stock and marketing for this line.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Google Looker Studio with interactive controls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25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1709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Sales, Order Count, Average Order Value, Fulfillment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325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01568" y="1709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 Chart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1568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trend across 2003–2005 with drill-down by year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6208" y="13258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36208" y="17099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 Bar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36208" y="201168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comparing all 7 product lines by revenue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17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66928" y="3401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Column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distribution across North America, EMEA, Asia Pacific, Japan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92608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3017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01568" y="3401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Donut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01568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breakdown of shipped, in-process, on-hold, cancelled orders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60604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3017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36208" y="3401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36208" y="37033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for Year, Product Line, Territory, Deal Size — all charts update live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Labs Data Analyst Internship  |  Task 4 — Dashboard Design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160020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Cars is the dominant revenue driver at 39% of total sales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leads all territories with $4.69M in revenue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(especially November) sees the strongest sales — ideal for seasonal campaigns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 fulfillment rate shows strong operations, but 104 at-risk orders need monitoring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deal sizes account for the largest revenue share — focus sales strategy 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4434840"/>
            <a:ext cx="4572000" cy="5486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4434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enables data-driven decisions for business stakeholders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477</Words>
  <Application>Microsoft Office PowerPoint</Application>
  <PresentationFormat>On-screen Show (16:9)</PresentationFormat>
  <Paragraphs>90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Analyst Internship - Task 4 Dashboard</dc:title>
  <dc:subject>PptxGenJS Presentation</dc:subject>
  <dc:creator>PptxGenJS</dc:creator>
  <cp:lastModifiedBy>psabarish936@outlook.com</cp:lastModifiedBy>
  <cp:revision>2</cp:revision>
  <dcterms:created xsi:type="dcterms:W3CDTF">2026-04-14T16:01:34Z</dcterms:created>
  <dcterms:modified xsi:type="dcterms:W3CDTF">2026-04-14T16:10:06Z</dcterms:modified>
</cp:coreProperties>
</file>